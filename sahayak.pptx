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Homenaj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9DViVxW69q1m6/CsIMPnd2LIC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Homenaje-regular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0"/>
          <p:cNvSpPr txBox="1"/>
          <p:nvPr>
            <p:ph type="ctrTitle"/>
          </p:nvPr>
        </p:nvSpPr>
        <p:spPr>
          <a:xfrm>
            <a:off x="2307750" y="660531"/>
            <a:ext cx="4528800" cy="31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" type="subTitle"/>
          </p:nvPr>
        </p:nvSpPr>
        <p:spPr>
          <a:xfrm>
            <a:off x="2448300" y="3850150"/>
            <a:ext cx="4247700" cy="4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" name="Google Shape;1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425386">
            <a:off x="8388476" y="34169"/>
            <a:ext cx="1365039" cy="1423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10"/>
          <p:cNvGrpSpPr/>
          <p:nvPr/>
        </p:nvGrpSpPr>
        <p:grpSpPr>
          <a:xfrm>
            <a:off x="96876" y="3999825"/>
            <a:ext cx="1465212" cy="1708700"/>
            <a:chOff x="96876" y="3999825"/>
            <a:chExt cx="1465212" cy="1708700"/>
          </a:xfrm>
        </p:grpSpPr>
        <p:pic>
          <p:nvPicPr>
            <p:cNvPr id="13" name="Google Shape;1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876" y="3999825"/>
              <a:ext cx="878100" cy="878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10"/>
            <p:cNvSpPr/>
            <p:nvPr/>
          </p:nvSpPr>
          <p:spPr>
            <a:xfrm>
              <a:off x="307188" y="4453625"/>
              <a:ext cx="1254900" cy="1254900"/>
            </a:xfrm>
            <a:prstGeom prst="ellipse">
              <a:avLst/>
            </a:prstGeom>
            <a:solidFill>
              <a:srgbClr val="F5F2FA">
                <a:alpha val="18431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/>
          <p:nvPr/>
        </p:nvSpPr>
        <p:spPr>
          <a:xfrm>
            <a:off x="8424000" y="3806861"/>
            <a:ext cx="828000" cy="828000"/>
          </a:xfrm>
          <a:prstGeom prst="ellipse">
            <a:avLst/>
          </a:prstGeom>
          <a:solidFill>
            <a:srgbClr val="F5F2FA">
              <a:alpha val="18431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720000" y="1084626"/>
            <a:ext cx="7704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pic>
        <p:nvPicPr>
          <p:cNvPr id="19" name="Google Shape;1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4083323">
            <a:off x="-88097" y="-20680"/>
            <a:ext cx="1365040" cy="1423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2">
            <a:off x="7952782" y="4475832"/>
            <a:ext cx="1988035" cy="538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idx="1" type="subTitle"/>
          </p:nvPr>
        </p:nvSpPr>
        <p:spPr>
          <a:xfrm>
            <a:off x="713225" y="1953950"/>
            <a:ext cx="3560100" cy="23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type="title"/>
          </p:nvPr>
        </p:nvSpPr>
        <p:spPr>
          <a:xfrm>
            <a:off x="713225" y="1096900"/>
            <a:ext cx="37404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12"/>
          <p:cNvSpPr/>
          <p:nvPr>
            <p:ph idx="2" type="pic"/>
          </p:nvPr>
        </p:nvSpPr>
        <p:spPr>
          <a:xfrm>
            <a:off x="4777225" y="785125"/>
            <a:ext cx="4417200" cy="4417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5" name="Google Shape;25;p12"/>
          <p:cNvGrpSpPr/>
          <p:nvPr/>
        </p:nvGrpSpPr>
        <p:grpSpPr>
          <a:xfrm>
            <a:off x="107278" y="-577387"/>
            <a:ext cx="1708845" cy="1918875"/>
            <a:chOff x="107278" y="-577387"/>
            <a:chExt cx="1708845" cy="1918875"/>
          </a:xfrm>
        </p:grpSpPr>
        <p:pic>
          <p:nvPicPr>
            <p:cNvPr id="26" name="Google Shape;26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10276250">
              <a:off x="206756" y="-167746"/>
              <a:ext cx="1356491" cy="14144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7;p12"/>
            <p:cNvSpPr/>
            <p:nvPr/>
          </p:nvSpPr>
          <p:spPr>
            <a:xfrm>
              <a:off x="789223" y="-577387"/>
              <a:ext cx="1026900" cy="1026900"/>
            </a:xfrm>
            <a:prstGeom prst="ellipse">
              <a:avLst/>
            </a:prstGeom>
            <a:solidFill>
              <a:srgbClr val="F5F2FA">
                <a:alpha val="18431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30" name="Google Shape;3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84750" y="141487"/>
            <a:ext cx="3247524" cy="398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" name="Google Shape;31;p13"/>
          <p:cNvGrpSpPr/>
          <p:nvPr/>
        </p:nvGrpSpPr>
        <p:grpSpPr>
          <a:xfrm>
            <a:off x="8167553" y="3698788"/>
            <a:ext cx="1555448" cy="2100425"/>
            <a:chOff x="260678" y="-647987"/>
            <a:chExt cx="1555448" cy="2100425"/>
          </a:xfrm>
        </p:grpSpPr>
        <p:pic>
          <p:nvPicPr>
            <p:cNvPr id="32" name="Google Shape;3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0276250">
              <a:off x="360156" y="-56796"/>
              <a:ext cx="1356491" cy="14144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33;p13"/>
            <p:cNvSpPr/>
            <p:nvPr/>
          </p:nvSpPr>
          <p:spPr>
            <a:xfrm>
              <a:off x="617773" y="-647987"/>
              <a:ext cx="1026900" cy="1026900"/>
            </a:xfrm>
            <a:prstGeom prst="ellipse">
              <a:avLst/>
            </a:prstGeom>
            <a:solidFill>
              <a:srgbClr val="F5F2FA">
                <a:alpha val="18431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7" name="Google Shape;37;p14"/>
          <p:cNvGrpSpPr/>
          <p:nvPr/>
        </p:nvGrpSpPr>
        <p:grpSpPr>
          <a:xfrm>
            <a:off x="8265976" y="116950"/>
            <a:ext cx="1465212" cy="1708700"/>
            <a:chOff x="96876" y="3999825"/>
            <a:chExt cx="1465212" cy="1708700"/>
          </a:xfrm>
        </p:grpSpPr>
        <p:pic>
          <p:nvPicPr>
            <p:cNvPr id="38" name="Google Shape;38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6876" y="3999825"/>
              <a:ext cx="878100" cy="878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14"/>
            <p:cNvSpPr/>
            <p:nvPr/>
          </p:nvSpPr>
          <p:spPr>
            <a:xfrm>
              <a:off x="307188" y="4453625"/>
              <a:ext cx="1254900" cy="1254900"/>
            </a:xfrm>
            <a:prstGeom prst="ellipse">
              <a:avLst/>
            </a:prstGeom>
            <a:solidFill>
              <a:srgbClr val="F5F2FA">
                <a:alpha val="18431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5"/>
          <p:cNvSpPr txBox="1"/>
          <p:nvPr>
            <p:ph type="title"/>
          </p:nvPr>
        </p:nvSpPr>
        <p:spPr>
          <a:xfrm>
            <a:off x="720000" y="4098675"/>
            <a:ext cx="7704000" cy="48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17"/>
          <p:cNvGrpSpPr/>
          <p:nvPr/>
        </p:nvGrpSpPr>
        <p:grpSpPr>
          <a:xfrm>
            <a:off x="-653101" y="-885617"/>
            <a:ext cx="10293292" cy="6029118"/>
            <a:chOff x="-653101" y="-885617"/>
            <a:chExt cx="10293292" cy="6029118"/>
          </a:xfrm>
        </p:grpSpPr>
        <p:sp>
          <p:nvSpPr>
            <p:cNvPr id="46" name="Google Shape;46;p17"/>
            <p:cNvSpPr/>
            <p:nvPr/>
          </p:nvSpPr>
          <p:spPr>
            <a:xfrm>
              <a:off x="8430775" y="-129225"/>
              <a:ext cx="1151100" cy="1151100"/>
            </a:xfrm>
            <a:prstGeom prst="ellipse">
              <a:avLst/>
            </a:prstGeom>
            <a:solidFill>
              <a:srgbClr val="F5F2FA">
                <a:alpha val="18431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7" name="Google Shape;47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10363406">
              <a:off x="-626988" y="4481031"/>
              <a:ext cx="1988030" cy="5387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7"/>
            <p:cNvPicPr preferRelativeResize="0"/>
            <p:nvPr/>
          </p:nvPicPr>
          <p:blipFill rotWithShape="1">
            <a:blip r:embed="rId3">
              <a:alphaModFix/>
            </a:blip>
            <a:srcRect b="0" l="0" r="39737" t="0"/>
            <a:stretch/>
          </p:blipFill>
          <p:spPr>
            <a:xfrm rot="-1827177">
              <a:off x="7134094" y="-354405"/>
              <a:ext cx="2393990" cy="109400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8"/>
          <p:cNvGrpSpPr/>
          <p:nvPr/>
        </p:nvGrpSpPr>
        <p:grpSpPr>
          <a:xfrm>
            <a:off x="-461012" y="75575"/>
            <a:ext cx="1492264" cy="1638150"/>
            <a:chOff x="-541687" y="156250"/>
            <a:chExt cx="1492264" cy="1638150"/>
          </a:xfrm>
        </p:grpSpPr>
        <p:pic>
          <p:nvPicPr>
            <p:cNvPr id="51" name="Google Shape;51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2476" y="156250"/>
              <a:ext cx="878101" cy="878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18"/>
            <p:cNvSpPr/>
            <p:nvPr/>
          </p:nvSpPr>
          <p:spPr>
            <a:xfrm>
              <a:off x="-541687" y="539500"/>
              <a:ext cx="1254900" cy="1254900"/>
            </a:xfrm>
            <a:prstGeom prst="ellipse">
              <a:avLst/>
            </a:prstGeom>
            <a:solidFill>
              <a:srgbClr val="F5F2FA">
                <a:alpha val="18431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3" name="Google Shape;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59571">
            <a:off x="7681859" y="3588103"/>
            <a:ext cx="1356490" cy="1414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omenaje"/>
              <a:buNone/>
              <a:defRPr b="1" i="0" sz="3600" u="none" cap="none" strike="noStrike">
                <a:solidFill>
                  <a:schemeClr val="dk1"/>
                </a:solidFill>
                <a:latin typeface="Homenaje"/>
                <a:ea typeface="Homenaje"/>
                <a:cs typeface="Homenaje"/>
                <a:sym typeface="Homenaj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omenaje"/>
              <a:buNone/>
              <a:defRPr b="1" i="0" sz="3600" u="none" cap="none" strike="noStrike">
                <a:solidFill>
                  <a:schemeClr val="dk1"/>
                </a:solidFill>
                <a:latin typeface="Homenaje"/>
                <a:ea typeface="Homenaje"/>
                <a:cs typeface="Homenaje"/>
                <a:sym typeface="Homenaj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omenaje"/>
              <a:buNone/>
              <a:defRPr b="1" i="0" sz="3600" u="none" cap="none" strike="noStrike">
                <a:solidFill>
                  <a:schemeClr val="dk1"/>
                </a:solidFill>
                <a:latin typeface="Homenaje"/>
                <a:ea typeface="Homenaje"/>
                <a:cs typeface="Homenaje"/>
                <a:sym typeface="Homenaj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omenaje"/>
              <a:buNone/>
              <a:defRPr b="1" i="0" sz="3600" u="none" cap="none" strike="noStrike">
                <a:solidFill>
                  <a:schemeClr val="dk1"/>
                </a:solidFill>
                <a:latin typeface="Homenaje"/>
                <a:ea typeface="Homenaje"/>
                <a:cs typeface="Homenaje"/>
                <a:sym typeface="Homenaj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omenaje"/>
              <a:buNone/>
              <a:defRPr b="1" i="0" sz="3600" u="none" cap="none" strike="noStrike">
                <a:solidFill>
                  <a:schemeClr val="dk1"/>
                </a:solidFill>
                <a:latin typeface="Homenaje"/>
                <a:ea typeface="Homenaje"/>
                <a:cs typeface="Homenaje"/>
                <a:sym typeface="Homenaj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omenaje"/>
              <a:buNone/>
              <a:defRPr b="1" i="0" sz="3600" u="none" cap="none" strike="noStrike">
                <a:solidFill>
                  <a:schemeClr val="dk1"/>
                </a:solidFill>
                <a:latin typeface="Homenaje"/>
                <a:ea typeface="Homenaje"/>
                <a:cs typeface="Homenaje"/>
                <a:sym typeface="Homenaj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omenaje"/>
              <a:buNone/>
              <a:defRPr b="1" i="0" sz="3600" u="none" cap="none" strike="noStrike">
                <a:solidFill>
                  <a:schemeClr val="dk1"/>
                </a:solidFill>
                <a:latin typeface="Homenaje"/>
                <a:ea typeface="Homenaje"/>
                <a:cs typeface="Homenaje"/>
                <a:sym typeface="Homenaj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omenaje"/>
              <a:buNone/>
              <a:defRPr b="1" i="0" sz="3600" u="none" cap="none" strike="noStrike">
                <a:solidFill>
                  <a:schemeClr val="dk1"/>
                </a:solidFill>
                <a:latin typeface="Homenaje"/>
                <a:ea typeface="Homenaje"/>
                <a:cs typeface="Homenaje"/>
                <a:sym typeface="Homenaj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omenaje"/>
              <a:buNone/>
              <a:defRPr b="1" i="0" sz="3600" u="none" cap="none" strike="noStrike">
                <a:solidFill>
                  <a:schemeClr val="dk1"/>
                </a:solidFill>
                <a:latin typeface="Homenaje"/>
                <a:ea typeface="Homenaje"/>
                <a:cs typeface="Homenaje"/>
                <a:sym typeface="Homenaje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640199" y="265324"/>
            <a:ext cx="7795647" cy="31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7200"/>
              <a:t>Sahayak: Traveling Planner</a:t>
            </a:r>
            <a:endParaRPr i="1"/>
          </a:p>
        </p:txBody>
      </p:sp>
      <p:sp>
        <p:nvSpPr>
          <p:cNvPr id="59" name="Google Shape;59;p1"/>
          <p:cNvSpPr txBox="1"/>
          <p:nvPr>
            <p:ph idx="1" type="subTitle"/>
          </p:nvPr>
        </p:nvSpPr>
        <p:spPr>
          <a:xfrm>
            <a:off x="1669319" y="3510367"/>
            <a:ext cx="6346988" cy="4417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Providing Assistance for Physically Handicapped Persons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040856">
            <a:off x="-353818" y="755906"/>
            <a:ext cx="1988034" cy="538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About Sahayak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720000" y="1084625"/>
            <a:ext cx="7704000" cy="33711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</a:pPr>
            <a:r>
              <a:rPr lang="en-US" sz="2000"/>
              <a:t>1. Sahayak is a project aimed at creating a website to provide accessible metro traveling facilities for physically handicapped persons.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</a:pPr>
            <a:r>
              <a:rPr lang="en-US" sz="2000"/>
              <a:t>2. The website will include features such as accessible station information, elevator availability, and route planning.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</a:pPr>
            <a:r>
              <a:rPr lang="en-US" sz="2000"/>
              <a:t>3. It aims to make metro travel more inclusive for everyone.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</a:pPr>
            <a:r>
              <a:rPr lang="en-US" sz="2000"/>
              <a:t>4. Users can provide feedback to improve the service.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</a:pPr>
            <a:r>
              <a:rPr lang="en-US" sz="2000"/>
              <a:t>5. Sahayak is dedicated to helping those with physical disabilities.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589087" y="1022888"/>
            <a:ext cx="7965826" cy="63629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Challenges Faced by Physically Handicapped Persons</a:t>
            </a:r>
            <a:endParaRPr/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8365" y="3249975"/>
            <a:ext cx="1414500" cy="141452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 txBox="1"/>
          <p:nvPr>
            <p:ph idx="1" type="subTitle"/>
          </p:nvPr>
        </p:nvSpPr>
        <p:spPr>
          <a:xfrm>
            <a:off x="713224" y="1953950"/>
            <a:ext cx="6857697" cy="23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1. Limited accessibility in public transportation, especially metro systems.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2. Difficulty in finding elevator availability at stations.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3. Lack of information on accessible routes.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4. Inability to plan journeys easily.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5. Challenges in navigating through metro stations.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idx="1" type="subTitle"/>
          </p:nvPr>
        </p:nvSpPr>
        <p:spPr>
          <a:xfrm>
            <a:off x="713224" y="1953950"/>
            <a:ext cx="8058817" cy="26025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000"/>
              <a:t>1. Sahayak provides detailed information on station accessibility.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000"/>
              <a:t>2. Elevator availability status is displayed for each station.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000"/>
              <a:t>3. Customized route planning based on accessibility features.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000"/>
              <a:t>4. Users can provide feedback and suggestions for improvement.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000"/>
              <a:t>5. Dedicated support for physically handicapped individuals.</a:t>
            </a:r>
            <a:endParaRPr sz="20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 txBox="1"/>
          <p:nvPr>
            <p:ph type="title"/>
          </p:nvPr>
        </p:nvSpPr>
        <p:spPr>
          <a:xfrm>
            <a:off x="713225" y="1096900"/>
            <a:ext cx="37404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My Solution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idx="1" type="subTitle"/>
          </p:nvPr>
        </p:nvSpPr>
        <p:spPr>
          <a:xfrm>
            <a:off x="713224" y="1953950"/>
            <a:ext cx="8066565" cy="23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1. Accessible Station Information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2. Elevator Availability Status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3. Customized Route Planning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4. User Feedback and Support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5. Dedicated Customer Service for Physically Handicapped Persons</a:t>
            </a:r>
            <a:endParaRPr sz="18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 txBox="1"/>
          <p:nvPr>
            <p:ph type="title"/>
          </p:nvPr>
        </p:nvSpPr>
        <p:spPr>
          <a:xfrm>
            <a:off x="713225" y="1096900"/>
            <a:ext cx="37404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Features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idx="1" type="subTitle"/>
          </p:nvPr>
        </p:nvSpPr>
        <p:spPr>
          <a:xfrm>
            <a:off x="713224" y="1953950"/>
            <a:ext cx="7593867" cy="19128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1. Clean and intuitive design for easy navigation.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2. Accessibility features integrated into the interface.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3. Easy-to-understand icons for quick information.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4. Customizable user preferences.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5. Multilingual support for diverse users.</a:t>
            </a:r>
            <a:endParaRPr sz="18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713225" y="1096900"/>
            <a:ext cx="37404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User Interface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idx="1" type="subTitle"/>
          </p:nvPr>
        </p:nvSpPr>
        <p:spPr>
          <a:xfrm>
            <a:off x="713224" y="1953950"/>
            <a:ext cx="6842199" cy="23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1. Detailed accessibility features of each metro station.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2. Information on elevator locations and availability.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3. Detailed maps showing accessible routes.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4. Tips for navigating through stations.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5. Contact information for assistance and inquiries.</a:t>
            </a:r>
            <a:endParaRPr sz="18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 txBox="1"/>
          <p:nvPr>
            <p:ph type="title"/>
          </p:nvPr>
        </p:nvSpPr>
        <p:spPr>
          <a:xfrm>
            <a:off x="713224" y="1096900"/>
            <a:ext cx="5176131" cy="8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Accessibility Information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>
            <p:ph idx="1" type="subTitle"/>
          </p:nvPr>
        </p:nvSpPr>
        <p:spPr>
          <a:xfrm>
            <a:off x="713224" y="1953950"/>
            <a:ext cx="7702355" cy="23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1. Sahayak is a comprehensive solution for accessible metro travel.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2. We aim to make metro systems more inclusive for everyone.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3. Your feedback helps us improve our service.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/>
              <a:t>4. Together, we can create a more accessible future.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 txBox="1"/>
          <p:nvPr>
            <p:ph type="title"/>
          </p:nvPr>
        </p:nvSpPr>
        <p:spPr>
          <a:xfrm>
            <a:off x="713225" y="1096900"/>
            <a:ext cx="37404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sign Inspiration Business Plan by Slidesgo">
  <a:themeElements>
    <a:clrScheme name="Simple Light">
      <a:dk1>
        <a:srgbClr val="F5F2FA"/>
      </a:dk1>
      <a:lt1>
        <a:srgbClr val="0B0811"/>
      </a:lt1>
      <a:dk2>
        <a:srgbClr val="CCC8E6"/>
      </a:dk2>
      <a:lt2>
        <a:srgbClr val="A289CA"/>
      </a:lt2>
      <a:accent1>
        <a:srgbClr val="F7AC4F"/>
      </a:accent1>
      <a:accent2>
        <a:srgbClr val="CF633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5F2F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Divakarbabu MP</dc:creator>
</cp:coreProperties>
</file>